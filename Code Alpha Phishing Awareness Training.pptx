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75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500000"/>
          </a:xfrm>
          <a:prstGeom prst="roundRect">
            <a:avLst/>
          </a:prstGeom>
          <a:solidFill>
            <a:srgbClr val="5A3CB4"/>
          </a:solidFill>
          <a:ln>
            <a:solidFill>
              <a:srgbClr val="5A3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86413" y="837318"/>
            <a:ext cx="6236836" cy="707886"/>
          </a:xfrm>
          <a:prstGeom prst="rect">
            <a:avLst/>
          </a:prstGeom>
          <a:solidFill>
            <a:schemeClr val="accent2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Phishing Awareness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413" y="1744394"/>
            <a:ext cx="8568659" cy="2431435"/>
          </a:xfrm>
          <a:prstGeom prst="rect">
            <a:avLst/>
          </a:prstGeom>
          <a:solidFill>
            <a:schemeClr val="tx2"/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0F0F0"/>
                </a:solidFill>
              </a:defRPr>
            </a:pPr>
            <a:r>
              <a:rPr sz="4400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Cyb</a:t>
            </a:r>
            <a:r>
              <a:rPr lang="en-US" sz="4400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CodeAlpha</a:t>
            </a:r>
            <a:r>
              <a:rPr lang="en-US" sz="4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sz="4400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er</a:t>
            </a:r>
            <a:r>
              <a:rPr sz="4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Security Internship</a:t>
            </a:r>
          </a:p>
          <a:p>
            <a:pPr>
              <a:defRPr sz="2000">
                <a:solidFill>
                  <a:srgbClr val="F0F0F0"/>
                </a:solidFill>
              </a:defRPr>
            </a:pPr>
            <a:r>
              <a:rPr sz="48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Task 2 | Domain: </a:t>
            </a:r>
            <a:r>
              <a:rPr sz="36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Cyber Security</a:t>
            </a:r>
          </a:p>
          <a:p>
            <a:pPr>
              <a:defRPr sz="2000">
                <a:solidFill>
                  <a:srgbClr val="F0F0F0"/>
                </a:solidFill>
              </a:defRPr>
            </a:pPr>
            <a:r>
              <a:rPr sz="60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Submitted By: </a:t>
            </a:r>
            <a:r>
              <a:rPr sz="36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Muhammad Sheraz</a:t>
            </a:r>
            <a:endParaRPr sz="36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500000"/>
          </a:xfrm>
          <a:prstGeom prst="roundRect">
            <a:avLst/>
          </a:prstGeom>
          <a:solidFill>
            <a:srgbClr val="5A3CB4"/>
          </a:solidFill>
          <a:ln>
            <a:solidFill>
              <a:srgbClr val="5A3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5575"/>
            <a:ext cx="2819875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What is Phishing?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155680" cy="163121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0F0F0"/>
                </a:solidFill>
              </a:defRPr>
            </a:pPr>
            <a:r>
              <a:rPr dirty="0"/>
              <a:t>Phishing is a cyberattack where attackers pretend to be trusted organizations to steal usernames, passwords, banking details, or personal information.</a:t>
            </a:r>
          </a:p>
          <a:p>
            <a:pPr>
              <a:defRPr sz="2000">
                <a:solidFill>
                  <a:srgbClr val="F0F0F0"/>
                </a:solidFill>
              </a:defRPr>
            </a:pPr>
            <a:endParaRPr dirty="0"/>
          </a:p>
          <a:p>
            <a:pPr>
              <a:defRPr sz="2000">
                <a:solidFill>
                  <a:srgbClr val="F0F0F0"/>
                </a:solidFill>
              </a:defRPr>
            </a:pPr>
            <a:r>
              <a:rPr dirty="0"/>
              <a:t>• Uses emails, SMS, phone calls, and fake websites.</a:t>
            </a:r>
          </a:p>
          <a:p>
            <a:pPr>
              <a:defRPr sz="2000">
                <a:solidFill>
                  <a:srgbClr val="F0F0F0"/>
                </a:solidFill>
              </a:defRPr>
            </a:pPr>
            <a:r>
              <a:rPr dirty="0"/>
              <a:t>• Relies on human trust rather than technical hacking.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500000"/>
          </a:xfrm>
          <a:prstGeom prst="roundRect">
            <a:avLst/>
          </a:prstGeom>
          <a:solidFill>
            <a:srgbClr val="5A3CB4"/>
          </a:solidFill>
          <a:ln>
            <a:solidFill>
              <a:srgbClr val="5A3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0F0F0"/>
                </a:solidFill>
              </a:defRPr>
            </a:pPr>
            <a:r>
              <a:t>• Understand phishing attacks.</a:t>
            </a:r>
          </a:p>
          <a:p>
            <a:pPr>
              <a:defRPr sz="2000">
                <a:solidFill>
                  <a:srgbClr val="F0F0F0"/>
                </a:solidFill>
              </a:defRPr>
            </a:pPr>
            <a:r>
              <a:t>• Identify warning signs.</a:t>
            </a:r>
          </a:p>
          <a:p>
            <a:pPr>
              <a:defRPr sz="2000">
                <a:solidFill>
                  <a:srgbClr val="F0F0F0"/>
                </a:solidFill>
              </a:defRPr>
            </a:pPr>
            <a:r>
              <a:t>• Learn prevention methods.</a:t>
            </a:r>
          </a:p>
          <a:p>
            <a:pPr>
              <a:defRPr sz="2000">
                <a:solidFill>
                  <a:srgbClr val="F0F0F0"/>
                </a:solidFill>
              </a:defRPr>
            </a:pPr>
            <a:r>
              <a:t>• Know how to report incidents.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500000"/>
          </a:xfrm>
          <a:prstGeom prst="roundRect">
            <a:avLst/>
          </a:prstGeom>
          <a:solidFill>
            <a:srgbClr val="5A3CB4"/>
          </a:solidFill>
          <a:ln>
            <a:solidFill>
              <a:srgbClr val="5A3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Types of Phishing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0F0F0"/>
                </a:solidFill>
              </a:defRPr>
            </a:pPr>
            <a:r>
              <a:t>• Email Phishing</a:t>
            </a:r>
          </a:p>
          <a:p>
            <a:pPr>
              <a:defRPr sz="2000">
                <a:solidFill>
                  <a:srgbClr val="F0F0F0"/>
                </a:solidFill>
              </a:defRPr>
            </a:pPr>
            <a:r>
              <a:t>• Spear Phishing</a:t>
            </a:r>
          </a:p>
          <a:p>
            <a:pPr>
              <a:defRPr sz="2000">
                <a:solidFill>
                  <a:srgbClr val="F0F0F0"/>
                </a:solidFill>
              </a:defRPr>
            </a:pPr>
            <a:r>
              <a:t>• Whaling</a:t>
            </a:r>
          </a:p>
          <a:p>
            <a:pPr>
              <a:defRPr sz="2000">
                <a:solidFill>
                  <a:srgbClr val="F0F0F0"/>
                </a:solidFill>
              </a:defRPr>
            </a:pPr>
            <a:r>
              <a:t>• Smishing (SMS)</a:t>
            </a:r>
          </a:p>
          <a:p>
            <a:pPr>
              <a:defRPr sz="2000">
                <a:solidFill>
                  <a:srgbClr val="F0F0F0"/>
                </a:solidFill>
              </a:defRPr>
            </a:pPr>
            <a:r>
              <a:t>• Vishing (Voice Calls)</a:t>
            </a:r>
          </a:p>
          <a:p>
            <a:pPr>
              <a:defRPr sz="2000">
                <a:solidFill>
                  <a:srgbClr val="F0F0F0"/>
                </a:solidFill>
              </a:defRPr>
            </a:pPr>
            <a:r>
              <a:t>• Clone Phishing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500000"/>
          </a:xfrm>
          <a:prstGeom prst="roundRect">
            <a:avLst/>
          </a:prstGeom>
          <a:solidFill>
            <a:srgbClr val="5A3CB4"/>
          </a:solidFill>
          <a:ln>
            <a:solidFill>
              <a:srgbClr val="5A3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Common Email Red Flags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0F0F0"/>
                </a:solidFill>
              </a:defRPr>
            </a:pPr>
            <a:r>
              <a:t>• Urgent language</a:t>
            </a:r>
          </a:p>
          <a:p>
            <a:pPr>
              <a:defRPr sz="2000">
                <a:solidFill>
                  <a:srgbClr val="F0F0F0"/>
                </a:solidFill>
              </a:defRPr>
            </a:pPr>
            <a:r>
              <a:t>• Suspicious sender</a:t>
            </a:r>
          </a:p>
          <a:p>
            <a:pPr>
              <a:defRPr sz="2000">
                <a:solidFill>
                  <a:srgbClr val="F0F0F0"/>
                </a:solidFill>
              </a:defRPr>
            </a:pPr>
            <a:r>
              <a:t>• Grammar mistakes</a:t>
            </a:r>
          </a:p>
          <a:p>
            <a:pPr>
              <a:defRPr sz="2000">
                <a:solidFill>
                  <a:srgbClr val="F0F0F0"/>
                </a:solidFill>
              </a:defRPr>
            </a:pPr>
            <a:r>
              <a:t>• Unexpected attachments</a:t>
            </a:r>
          </a:p>
          <a:p>
            <a:pPr>
              <a:defRPr sz="2000">
                <a:solidFill>
                  <a:srgbClr val="F0F0F0"/>
                </a:solidFill>
              </a:defRPr>
            </a:pPr>
            <a:r>
              <a:t>• Fake links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500000"/>
          </a:xfrm>
          <a:prstGeom prst="roundRect">
            <a:avLst/>
          </a:prstGeom>
          <a:solidFill>
            <a:srgbClr val="5A3CB4"/>
          </a:solidFill>
          <a:ln>
            <a:solidFill>
              <a:srgbClr val="5A3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Fake Website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67618"/>
            <a:ext cx="10972800" cy="530352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0F0F0"/>
                </a:solidFill>
              </a:defRPr>
            </a:pPr>
            <a:r>
              <a:t>Compare the URL carefully, verify HTTPS, inspect spelling, avoid entering credentials on unknown sites.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500000"/>
          </a:xfrm>
          <a:prstGeom prst="roundRect">
            <a:avLst/>
          </a:prstGeom>
          <a:solidFill>
            <a:srgbClr val="5A3CB4"/>
          </a:solidFill>
          <a:ln>
            <a:solidFill>
              <a:srgbClr val="5A3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Social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8048" y="689318"/>
            <a:ext cx="10972800" cy="530352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0F0F0"/>
                </a:solidFill>
              </a:defRPr>
            </a:pPr>
            <a:r>
              <a:t>Attackers exploit fear, curiosity, greed, and authority to manipulate victims into revealing sensitive information.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500000"/>
          </a:xfrm>
          <a:prstGeom prst="roundRect">
            <a:avLst/>
          </a:prstGeom>
          <a:solidFill>
            <a:srgbClr val="5A3CB4"/>
          </a:solidFill>
          <a:ln>
            <a:solidFill>
              <a:srgbClr val="5A3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Attack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0F0F0"/>
                </a:solidFill>
              </a:defRPr>
            </a:pPr>
            <a:r>
              <a:t>Victim receives message → Clicks link → Fake login page → Credentials stolen → Account compromised.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500000"/>
          </a:xfrm>
          <a:prstGeom prst="roundRect">
            <a:avLst/>
          </a:prstGeom>
          <a:solidFill>
            <a:srgbClr val="5A3CB4"/>
          </a:solidFill>
          <a:ln>
            <a:solidFill>
              <a:srgbClr val="5A3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Real World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403" y="947775"/>
            <a:ext cx="10480430" cy="101566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anchor="ctr">
            <a:spAutoFit/>
          </a:bodyPr>
          <a:lstStyle/>
          <a:p>
            <a:pPr lvl="2" algn="ctr">
              <a:lnSpc>
                <a:spcPct val="150000"/>
              </a:lnSpc>
              <a:defRPr sz="2000">
                <a:solidFill>
                  <a:srgbClr val="F0F0F0"/>
                </a:solidFill>
              </a:defRPr>
            </a:pPr>
            <a:r>
              <a:rPr dirty="0"/>
              <a:t>Example: Fake Microsoft or bank login pages asking users to </a:t>
            </a:r>
            <a:r>
              <a:rPr sz="1400" dirty="0"/>
              <a:t>verify</a:t>
            </a:r>
            <a:r>
              <a:rPr dirty="0"/>
              <a:t> accounts. Many organizations lose money through Business Email Compromise.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500000"/>
          </a:xfrm>
          <a:prstGeom prst="roundRect">
            <a:avLst/>
          </a:prstGeom>
          <a:solidFill>
            <a:srgbClr val="5A3CB4"/>
          </a:solidFill>
          <a:ln>
            <a:solidFill>
              <a:srgbClr val="5A3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Consequences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0F0F0"/>
                </a:solidFill>
              </a:defRPr>
            </a:pPr>
            <a:r>
              <a:rPr dirty="0"/>
              <a:t>Financial loss, identity theft, malware infection, reputational damage, data breaches.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500000"/>
          </a:xfrm>
          <a:prstGeom prst="roundRect">
            <a:avLst/>
          </a:prstGeom>
          <a:solidFill>
            <a:srgbClr val="5A3CB4"/>
          </a:solidFill>
          <a:ln>
            <a:solidFill>
              <a:srgbClr val="5A3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Password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0F0F0"/>
                </a:solidFill>
              </a:defRPr>
            </a:pPr>
            <a:r>
              <a:rPr dirty="0"/>
              <a:t>Use long unique passwords, password managers, and never reuse passwords.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500000"/>
          </a:xfrm>
          <a:prstGeom prst="roundRect">
            <a:avLst/>
          </a:prstGeom>
          <a:solidFill>
            <a:srgbClr val="5A3CB4"/>
          </a:solidFill>
          <a:ln>
            <a:solidFill>
              <a:srgbClr val="5A3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Multi-Factor Authentication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0F0F0"/>
                </a:solidFill>
              </a:defRPr>
            </a:pPr>
            <a:r>
              <a:t>MFA adds a second verification step, greatly reducing account compromise.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500000"/>
          </a:xfrm>
          <a:prstGeom prst="roundRect">
            <a:avLst/>
          </a:prstGeom>
          <a:solidFill>
            <a:srgbClr val="5A3CB4"/>
          </a:solidFill>
          <a:ln>
            <a:solidFill>
              <a:srgbClr val="5A3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Safe Browsing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0F0F0"/>
                </a:solidFill>
              </a:defRPr>
            </a:pPr>
            <a:r>
              <a:t>Verify links, update software, avoid unknown downloads, use antivirus.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500000"/>
          </a:xfrm>
          <a:prstGeom prst="roundRect">
            <a:avLst/>
          </a:prstGeom>
          <a:solidFill>
            <a:srgbClr val="5A3CB4"/>
          </a:solidFill>
          <a:ln>
            <a:solidFill>
              <a:srgbClr val="5A3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Mobile Phishing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0F0F0"/>
                </a:solidFill>
              </a:defRPr>
            </a:pPr>
            <a:r>
              <a:rPr dirty="0"/>
              <a:t>Be careful with SMS links, QR codes, fake delivery messages, and malicious apps.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500000"/>
          </a:xfrm>
          <a:prstGeom prst="roundRect">
            <a:avLst/>
          </a:prstGeom>
          <a:solidFill>
            <a:srgbClr val="5A3CB4"/>
          </a:solidFill>
          <a:ln>
            <a:solidFill>
              <a:srgbClr val="5A3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0F0F0"/>
                </a:solidFill>
              </a:defRPr>
            </a:pPr>
            <a:r>
              <a:t>Disconnect if needed, report to IT/security team, change passwords, scan device.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500000"/>
          </a:xfrm>
          <a:prstGeom prst="roundRect">
            <a:avLst/>
          </a:prstGeom>
          <a:solidFill>
            <a:srgbClr val="5A3CB4"/>
          </a:solidFill>
          <a:ln>
            <a:solidFill>
              <a:srgbClr val="5A3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0F0F0"/>
                </a:solidFill>
              </a:defRPr>
            </a:pPr>
            <a:r>
              <a:t>Q: Should you click an urgent bank link?</a:t>
            </a:r>
          </a:p>
          <a:p>
            <a:pPr>
              <a:defRPr sz="2000">
                <a:solidFill>
                  <a:srgbClr val="F0F0F0"/>
                </a:solidFill>
              </a:defRPr>
            </a:pPr>
            <a:r>
              <a:t>A: No. Visit the official website manually.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500000"/>
          </a:xfrm>
          <a:prstGeom prst="roundRect">
            <a:avLst/>
          </a:prstGeom>
          <a:solidFill>
            <a:srgbClr val="5A3CB4"/>
          </a:solidFill>
          <a:ln>
            <a:solidFill>
              <a:srgbClr val="5A3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0F0F0"/>
                </a:solidFill>
              </a:defRPr>
            </a:pPr>
            <a:r>
              <a:t>Q: Is HTTPS alone proof of safety?</a:t>
            </a:r>
          </a:p>
          <a:p>
            <a:pPr>
              <a:defRPr sz="2000">
                <a:solidFill>
                  <a:srgbClr val="F0F0F0"/>
                </a:solidFill>
              </a:defRPr>
            </a:pPr>
            <a:r>
              <a:t>A: No. Always verify the full domain name.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500000"/>
          </a:xfrm>
          <a:prstGeom prst="roundRect">
            <a:avLst/>
          </a:prstGeom>
          <a:solidFill>
            <a:srgbClr val="5A3CB4"/>
          </a:solidFill>
          <a:ln>
            <a:solidFill>
              <a:srgbClr val="5A3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0F0F0"/>
                </a:solidFill>
              </a:defRPr>
            </a:pPr>
            <a:r>
              <a:t>Think before clicking, verify requests, enable MFA, update devices, educate employees.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500000"/>
          </a:xfrm>
          <a:prstGeom prst="roundRect">
            <a:avLst/>
          </a:prstGeom>
          <a:solidFill>
            <a:srgbClr val="5A3CB4"/>
          </a:solidFill>
          <a:ln>
            <a:solidFill>
              <a:srgbClr val="5A3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0F0F0"/>
                </a:solidFill>
              </a:defRPr>
            </a:pPr>
            <a:r>
              <a:t>Google Safety Center</a:t>
            </a:r>
          </a:p>
          <a:p>
            <a:pPr>
              <a:defRPr sz="2000">
                <a:solidFill>
                  <a:srgbClr val="F0F0F0"/>
                </a:solidFill>
              </a:defRPr>
            </a:pPr>
            <a:r>
              <a:t>CISA Cybersecurity Resources</a:t>
            </a:r>
          </a:p>
          <a:p>
            <a:pPr>
              <a:defRPr sz="2000">
                <a:solidFill>
                  <a:srgbClr val="F0F0F0"/>
                </a:solidFill>
              </a:defRPr>
            </a:pPr>
            <a:r>
              <a:t>Microsoft Security Learning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500000"/>
          </a:xfrm>
          <a:prstGeom prst="roundRect">
            <a:avLst/>
          </a:prstGeom>
          <a:solidFill>
            <a:srgbClr val="5A3CB4"/>
          </a:solidFill>
          <a:ln>
            <a:solidFill>
              <a:srgbClr val="5A3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0F0F0"/>
                </a:solidFill>
              </a:defRPr>
            </a:pPr>
            <a:r>
              <a:t>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396</Words>
  <Application>Microsoft Office PowerPoint</Application>
  <PresentationFormat>Custom</PresentationFormat>
  <Paragraphs>61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Sheraz Sherazi</dc:creator>
  <cp:keywords/>
  <dc:description>generated using python-pptx</dc:description>
  <cp:lastModifiedBy>Sheraz Sherazi</cp:lastModifiedBy>
  <cp:revision>4</cp:revision>
  <dcterms:created xsi:type="dcterms:W3CDTF">2013-01-27T09:14:16Z</dcterms:created>
  <dcterms:modified xsi:type="dcterms:W3CDTF">2026-08-17T16:32:00Z</dcterms:modified>
  <cp:category/>
</cp:coreProperties>
</file>